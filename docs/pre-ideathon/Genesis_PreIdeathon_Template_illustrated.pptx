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 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 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 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63ADF1-2D61-4C89-9A91-A828C6ABB7F9}" type="doc">
      <dgm:prSet loTypeId="urn:microsoft.com/office/officeart/2008/layout/BendingPictureCaption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017BA4F-3B55-47D1-B598-7AF004A2904A}">
      <dgm:prSet phldrT="[Text]" phldr="0"/>
      <dgm:spPr/>
      <dgm:t>
        <a:bodyPr/>
        <a:lstStyle/>
        <a:p>
          <a:r>
            <a:rPr lang="en-US" dirty="0"/>
            <a:t>Source: </a:t>
          </a:r>
          <a:r>
            <a:rPr lang="en-US" dirty="0" err="1"/>
            <a:t>chatgpt</a:t>
          </a:r>
          <a:endParaRPr lang="en-US" dirty="0"/>
        </a:p>
      </dgm:t>
    </dgm:pt>
    <dgm:pt modelId="{184BAEF4-06DE-4448-A264-678DB03BA05B}" type="parTrans" cxnId="{B8169466-88CA-4401-89AA-4386078387E2}">
      <dgm:prSet/>
      <dgm:spPr/>
      <dgm:t>
        <a:bodyPr/>
        <a:lstStyle/>
        <a:p>
          <a:endParaRPr lang="en-US"/>
        </a:p>
      </dgm:t>
    </dgm:pt>
    <dgm:pt modelId="{20AEC3E4-E362-4879-8ED3-48C55F755EC3}" type="sibTrans" cxnId="{B8169466-88CA-4401-89AA-4386078387E2}">
      <dgm:prSet/>
      <dgm:spPr/>
      <dgm:t>
        <a:bodyPr/>
        <a:lstStyle/>
        <a:p>
          <a:endParaRPr lang="en-US"/>
        </a:p>
      </dgm:t>
    </dgm:pt>
    <dgm:pt modelId="{8E2EA762-080B-41E9-A76A-EC6A61F40053}" type="pres">
      <dgm:prSet presAssocID="{9F63ADF1-2D61-4C89-9A91-A828C6ABB7F9}" presName="diagram" presStyleCnt="0">
        <dgm:presLayoutVars>
          <dgm:dir/>
        </dgm:presLayoutVars>
      </dgm:prSet>
      <dgm:spPr/>
    </dgm:pt>
    <dgm:pt modelId="{DDA759F2-F276-4EB8-A839-89FC306A5DBD}" type="pres">
      <dgm:prSet presAssocID="{2017BA4F-3B55-47D1-B598-7AF004A2904A}" presName="composite" presStyleCnt="0"/>
      <dgm:spPr/>
    </dgm:pt>
    <dgm:pt modelId="{581B68E6-9E10-407C-83AB-AE462463AA34}" type="pres">
      <dgm:prSet presAssocID="{2017BA4F-3B55-47D1-B598-7AF004A2904A}" presName="Image" presStyleLbl="bgShp" presStyleIdx="0" presStyleCnt="1"/>
      <dgm:spPr>
        <a:blipFill>
          <a:blip xmlns:r="http://schemas.openxmlformats.org/officeDocument/2006/relationships" r:embed="rId1"/>
          <a:srcRect/>
          <a:stretch>
            <a:fillRect l="-16000" r="-16000"/>
          </a:stretch>
        </a:blipFill>
      </dgm:spPr>
    </dgm:pt>
    <dgm:pt modelId="{94C2F2B8-E769-4888-A1F1-860381E54CDA}" type="pres">
      <dgm:prSet presAssocID="{2017BA4F-3B55-47D1-B598-7AF004A2904A}" presName="Parent" presStyleLbl="node0" presStyleIdx="0" presStyleCnt="1" custScaleX="82665" custScaleY="70888">
        <dgm:presLayoutVars>
          <dgm:bulletEnabled val="1"/>
        </dgm:presLayoutVars>
      </dgm:prSet>
      <dgm:spPr/>
    </dgm:pt>
  </dgm:ptLst>
  <dgm:cxnLst>
    <dgm:cxn modelId="{4A188513-B7B3-47B8-9F3D-10A807516328}" type="presOf" srcId="{2017BA4F-3B55-47D1-B598-7AF004A2904A}" destId="{94C2F2B8-E769-4888-A1F1-860381E54CDA}" srcOrd="0" destOrd="0" presId="urn:microsoft.com/office/officeart/2008/layout/BendingPictureCaption"/>
    <dgm:cxn modelId="{B8169466-88CA-4401-89AA-4386078387E2}" srcId="{9F63ADF1-2D61-4C89-9A91-A828C6ABB7F9}" destId="{2017BA4F-3B55-47D1-B598-7AF004A2904A}" srcOrd="0" destOrd="0" parTransId="{184BAEF4-06DE-4448-A264-678DB03BA05B}" sibTransId="{20AEC3E4-E362-4879-8ED3-48C55F755EC3}"/>
    <dgm:cxn modelId="{000408C1-17DB-4506-ABC4-EDA569485493}" type="presOf" srcId="{9F63ADF1-2D61-4C89-9A91-A828C6ABB7F9}" destId="{8E2EA762-080B-41E9-A76A-EC6A61F40053}" srcOrd="0" destOrd="0" presId="urn:microsoft.com/office/officeart/2008/layout/BendingPictureCaption"/>
    <dgm:cxn modelId="{EF3D3618-AD8B-4D43-A0C9-4DEBAC8BE557}" type="presParOf" srcId="{8E2EA762-080B-41E9-A76A-EC6A61F40053}" destId="{DDA759F2-F276-4EB8-A839-89FC306A5DBD}" srcOrd="0" destOrd="0" presId="urn:microsoft.com/office/officeart/2008/layout/BendingPictureCaption"/>
    <dgm:cxn modelId="{3964AD38-0791-4047-BFCE-9EBCB2128155}" type="presParOf" srcId="{DDA759F2-F276-4EB8-A839-89FC306A5DBD}" destId="{581B68E6-9E10-407C-83AB-AE462463AA34}" srcOrd="0" destOrd="0" presId="urn:microsoft.com/office/officeart/2008/layout/BendingPictureCaption"/>
    <dgm:cxn modelId="{B43714A0-67A6-4A96-8A23-537334BE0AF7}" type="presParOf" srcId="{DDA759F2-F276-4EB8-A839-89FC306A5DBD}" destId="{94C2F2B8-E769-4888-A1F1-860381E54CDA}" srcOrd="1" destOrd="0" presId="urn:microsoft.com/office/officeart/2008/layout/BendingPictureCaption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4DBF17-8DB6-4EC8-B28D-FD4791C799C6}" type="doc">
      <dgm:prSet loTypeId="urn:microsoft.com/office/officeart/2008/layout/BendingPictureCaption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D9AADF-D99C-41E1-877B-C79567AF21F3}">
      <dgm:prSet phldrT="[Text]" phldr="0"/>
      <dgm:spPr/>
      <dgm:t>
        <a:bodyPr/>
        <a:lstStyle/>
        <a:p>
          <a:r>
            <a:rPr lang="en-US" dirty="0"/>
            <a:t>Source: ChatGPT</a:t>
          </a:r>
        </a:p>
      </dgm:t>
    </dgm:pt>
    <dgm:pt modelId="{06C89834-8151-4D2D-8373-CCD5FE695198}" type="sibTrans" cxnId="{EE312B83-F376-49FE-8694-2ECA7C9810BA}">
      <dgm:prSet/>
      <dgm:spPr/>
      <dgm:t>
        <a:bodyPr/>
        <a:lstStyle/>
        <a:p>
          <a:endParaRPr lang="en-US"/>
        </a:p>
      </dgm:t>
    </dgm:pt>
    <dgm:pt modelId="{B16DF511-0165-4845-ABFB-9148C83BFFFF}" type="parTrans" cxnId="{EE312B83-F376-49FE-8694-2ECA7C9810BA}">
      <dgm:prSet/>
      <dgm:spPr/>
      <dgm:t>
        <a:bodyPr/>
        <a:lstStyle/>
        <a:p>
          <a:endParaRPr lang="en-US"/>
        </a:p>
      </dgm:t>
    </dgm:pt>
    <dgm:pt modelId="{E5F1DEB9-DB3D-4C04-9B94-E86A2A2240B9}" type="pres">
      <dgm:prSet presAssocID="{2F4DBF17-8DB6-4EC8-B28D-FD4791C799C6}" presName="diagram" presStyleCnt="0">
        <dgm:presLayoutVars>
          <dgm:dir/>
        </dgm:presLayoutVars>
      </dgm:prSet>
      <dgm:spPr/>
    </dgm:pt>
    <dgm:pt modelId="{6C63FD16-68E1-4EE6-95B7-722106611450}" type="pres">
      <dgm:prSet presAssocID="{D9D9AADF-D99C-41E1-877B-C79567AF21F3}" presName="composite" presStyleCnt="0"/>
      <dgm:spPr/>
    </dgm:pt>
    <dgm:pt modelId="{E05BAA14-332E-45CD-BF86-C3A06CBEEF67}" type="pres">
      <dgm:prSet presAssocID="{D9D9AADF-D99C-41E1-877B-C79567AF21F3}" presName="Image" presStyleLbl="bgShp" presStyleIdx="0" presStyleCnt="1" custScaleX="114989"/>
      <dgm:spPr>
        <a:blipFill>
          <a:blip xmlns:r="http://schemas.openxmlformats.org/officeDocument/2006/relationships" r:embed="rId1"/>
          <a:srcRect/>
          <a:stretch>
            <a:fillRect l="-16000" r="-16000"/>
          </a:stretch>
        </a:blipFill>
      </dgm:spPr>
    </dgm:pt>
    <dgm:pt modelId="{EA6B3D1F-F88C-442D-9074-1C57A89AEFD1}" type="pres">
      <dgm:prSet presAssocID="{D9D9AADF-D99C-41E1-877B-C79567AF21F3}" presName="Parent" presStyleLbl="node0" presStyleIdx="0" presStyleCnt="1" custScaleX="52764" custScaleY="60844">
        <dgm:presLayoutVars>
          <dgm:bulletEnabled val="1"/>
        </dgm:presLayoutVars>
      </dgm:prSet>
      <dgm:spPr/>
    </dgm:pt>
  </dgm:ptLst>
  <dgm:cxnLst>
    <dgm:cxn modelId="{EE312B83-F376-49FE-8694-2ECA7C9810BA}" srcId="{2F4DBF17-8DB6-4EC8-B28D-FD4791C799C6}" destId="{D9D9AADF-D99C-41E1-877B-C79567AF21F3}" srcOrd="0" destOrd="0" parTransId="{B16DF511-0165-4845-ABFB-9148C83BFFFF}" sibTransId="{06C89834-8151-4D2D-8373-CCD5FE695198}"/>
    <dgm:cxn modelId="{A7457E8F-4652-44FA-A91C-AC68C9090976}" type="presOf" srcId="{2F4DBF17-8DB6-4EC8-B28D-FD4791C799C6}" destId="{E5F1DEB9-DB3D-4C04-9B94-E86A2A2240B9}" srcOrd="0" destOrd="0" presId="urn:microsoft.com/office/officeart/2008/layout/BendingPictureCaption"/>
    <dgm:cxn modelId="{6775DEDA-9844-40FA-8FD8-C568F1865624}" type="presOf" srcId="{D9D9AADF-D99C-41E1-877B-C79567AF21F3}" destId="{EA6B3D1F-F88C-442D-9074-1C57A89AEFD1}" srcOrd="0" destOrd="0" presId="urn:microsoft.com/office/officeart/2008/layout/BendingPictureCaption"/>
    <dgm:cxn modelId="{F619936A-71D6-4127-906A-5255E7315E39}" type="presParOf" srcId="{E5F1DEB9-DB3D-4C04-9B94-E86A2A2240B9}" destId="{6C63FD16-68E1-4EE6-95B7-722106611450}" srcOrd="0" destOrd="0" presId="urn:microsoft.com/office/officeart/2008/layout/BendingPictureCaption"/>
    <dgm:cxn modelId="{713A0DA2-40DE-4B67-94B8-6DB80A08E165}" type="presParOf" srcId="{6C63FD16-68E1-4EE6-95B7-722106611450}" destId="{E05BAA14-332E-45CD-BF86-C3A06CBEEF67}" srcOrd="0" destOrd="0" presId="urn:microsoft.com/office/officeart/2008/layout/BendingPictureCaption"/>
    <dgm:cxn modelId="{9592DF29-6968-4EA0-8A49-726A6AB5324E}" type="presParOf" srcId="{6C63FD16-68E1-4EE6-95B7-722106611450}" destId="{EA6B3D1F-F88C-442D-9074-1C57A89AEFD1}" srcOrd="1" destOrd="0" presId="urn:microsoft.com/office/officeart/2008/layout/BendingPictureCaption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1B68E6-9E10-407C-83AB-AE462463AA34}">
      <dsp:nvSpPr>
        <dsp:cNvPr id="0" name=""/>
        <dsp:cNvSpPr/>
      </dsp:nvSpPr>
      <dsp:spPr>
        <a:xfrm>
          <a:off x="1832891" y="40517"/>
          <a:ext cx="2688364" cy="1986691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16000" r="-16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C2F2B8-E769-4888-A1F1-860381E54CDA}">
      <dsp:nvSpPr>
        <dsp:cNvPr id="0" name=""/>
        <dsp:cNvSpPr/>
      </dsp:nvSpPr>
      <dsp:spPr>
        <a:xfrm>
          <a:off x="2577072" y="1748018"/>
          <a:ext cx="1914991" cy="3946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en-US" sz="2200" kern="1200" dirty="0"/>
            <a:t>Source: </a:t>
          </a:r>
          <a:r>
            <a:rPr lang="en-US" sz="2200" kern="1200" dirty="0" err="1"/>
            <a:t>chatgpt</a:t>
          </a:r>
          <a:endParaRPr lang="en-US" sz="2200" kern="1200" dirty="0"/>
        </a:p>
      </dsp:txBody>
      <dsp:txXfrm>
        <a:off x="2577072" y="1748018"/>
        <a:ext cx="1914991" cy="3946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5BAA14-332E-45CD-BF86-C3A06CBEEF67}">
      <dsp:nvSpPr>
        <dsp:cNvPr id="0" name=""/>
        <dsp:cNvSpPr/>
      </dsp:nvSpPr>
      <dsp:spPr>
        <a:xfrm>
          <a:off x="648" y="162891"/>
          <a:ext cx="3395668" cy="2182283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16000" r="-16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6B3D1F-F88C-442D-9074-1C57A89AEFD1}">
      <dsp:nvSpPr>
        <dsp:cNvPr id="0" name=""/>
        <dsp:cNvSpPr/>
      </dsp:nvSpPr>
      <dsp:spPr>
        <a:xfrm>
          <a:off x="1419847" y="2069209"/>
          <a:ext cx="1342653" cy="3720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en-US" sz="1400" kern="1200" dirty="0"/>
            <a:t>Source: ChatGPT</a:t>
          </a:r>
        </a:p>
      </dsp:txBody>
      <dsp:txXfrm>
        <a:off x="1419847" y="2069209"/>
        <a:ext cx="1342653" cy="3720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endingPictureCaption">
  <dgm:title val=""/>
  <dgm:desc val=""/>
  <dgm:catLst>
    <dgm:cat type="picture" pri="6000"/>
    <dgm:cat type="pictureconvert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7" srcId="0" destId="1" srcOrd="0" destOrd="0"/>
        <dgm:cxn modelId="8" srcId="0" destId="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diagram">
    <dgm:varLst>
      <dgm:dir/>
    </dgm:varLst>
    <dgm:choose name="Name0">
      <dgm:if name="Name1" func="var" arg="dir" op="equ" val="norm">
        <dgm:alg type="snake">
          <dgm:param type="off" val="ctr"/>
        </dgm:alg>
      </dgm:if>
      <dgm:else name="Name2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.19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if>
          <dgm:else name="Name5">
            <dgm:constrLst>
              <dgm:constr type="l" for="ch" forName="Image" refType="w" fact="0.06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else>
        </dgm:choose>
        <dgm:layoutNode name="Image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node0">
          <dgm:varLst>
            <dgm:bulletEnabled val="1"/>
          </dgm:varLst>
          <dgm:alg type="tx">
            <dgm:param type="txAnchorVertCh" val="mid"/>
            <dgm:param type="shpTxRTLAlignCh" val="r"/>
            <dgm:param type="lnSpAfParP" val="5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BendingPictureCaption">
  <dgm:title val=""/>
  <dgm:desc val=""/>
  <dgm:catLst>
    <dgm:cat type="picture" pri="6000"/>
    <dgm:cat type="pictureconvert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7" srcId="0" destId="1" srcOrd="0" destOrd="0"/>
        <dgm:cxn modelId="8" srcId="0" destId="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diagram">
    <dgm:varLst>
      <dgm:dir/>
    </dgm:varLst>
    <dgm:choose name="Name0">
      <dgm:if name="Name1" func="var" arg="dir" op="equ" val="norm">
        <dgm:alg type="snake">
          <dgm:param type="off" val="ctr"/>
        </dgm:alg>
      </dgm:if>
      <dgm:else name="Name2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.19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if>
          <dgm:else name="Name5">
            <dgm:constrLst>
              <dgm:constr type="l" for="ch" forName="Image" refType="w" fact="0.06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else>
        </dgm:choose>
        <dgm:layoutNode name="Image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node0">
          <dgm:varLst>
            <dgm:bulletEnabled val="1"/>
          </dgm:varLst>
          <dgm:alg type="tx">
            <dgm:param type="txAnchorVertCh" val="mid"/>
            <dgm:param type="shpTxRTLAlignCh" val="r"/>
            <dgm:param type="lnSpAfParP" val="5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7585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 /><Relationship Id="rId3" Type="http://schemas.openxmlformats.org/officeDocument/2006/relationships/image" Target="../media/image2.png" /><Relationship Id="rId7" Type="http://schemas.openxmlformats.org/officeDocument/2006/relationships/diagramQuickStyle" Target="../diagrams/quickStyle1.xml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Relationship Id="rId6" Type="http://schemas.openxmlformats.org/officeDocument/2006/relationships/diagramLayout" Target="../diagrams/layout1.xml" /><Relationship Id="rId5" Type="http://schemas.openxmlformats.org/officeDocument/2006/relationships/diagramData" Target="../diagrams/data1.xml" /><Relationship Id="rId4" Type="http://schemas.openxmlformats.org/officeDocument/2006/relationships/image" Target="../media/image3.png" /><Relationship Id="rId9" Type="http://schemas.microsoft.com/office/2007/relationships/diagramDrawing" Target="../diagrams/drawing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Relationship Id="rId5" Type="http://schemas.openxmlformats.org/officeDocument/2006/relationships/image" Target="../media/image5.png" /><Relationship Id="rId4" Type="http://schemas.openxmlformats.org/officeDocument/2006/relationships/image" Target="../media/image3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3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3.xml" /><Relationship Id="rId5" Type="http://schemas.openxmlformats.org/officeDocument/2006/relationships/image" Target="../media/image6.png" /><Relationship Id="rId4" Type="http://schemas.openxmlformats.org/officeDocument/2006/relationships/image" Target="../media/image3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3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3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 /><Relationship Id="rId3" Type="http://schemas.openxmlformats.org/officeDocument/2006/relationships/image" Target="../media/image2.png" /><Relationship Id="rId7" Type="http://schemas.openxmlformats.org/officeDocument/2006/relationships/diagramQuickStyle" Target="../diagrams/quickStyle2.xml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3.xml" /><Relationship Id="rId6" Type="http://schemas.openxmlformats.org/officeDocument/2006/relationships/diagramLayout" Target="../diagrams/layout2.xml" /><Relationship Id="rId5" Type="http://schemas.openxmlformats.org/officeDocument/2006/relationships/diagramData" Target="../diagrams/data2.xml" /><Relationship Id="rId4" Type="http://schemas.openxmlformats.org/officeDocument/2006/relationships/image" Target="../media/image3.png" /><Relationship Id="rId9" Type="http://schemas.microsoft.com/office/2007/relationships/diagramDrawing" Target="../diagrams/drawing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Hexagon"/>
          <p:cNvSpPr/>
          <p:nvPr/>
        </p:nvSpPr>
        <p:spPr>
          <a:xfrm rot="5400000">
            <a:off x="8841585" y="-122252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3" name="Cover Hexagon"/>
          <p:cNvSpPr/>
          <p:nvPr/>
        </p:nvSpPr>
        <p:spPr>
          <a:xfrm rot="5400000">
            <a:off x="10524081" y="1691640"/>
            <a:ext cx="3695502" cy="3200400"/>
          </a:xfrm>
          <a:prstGeom prst="hexagon">
            <a:avLst/>
          </a:prstGeom>
          <a:solidFill>
            <a:schemeClr val="accent1">
              <a:alpha val="25000"/>
            </a:schemeClr>
          </a:solidFill>
          <a:ln w="15875">
            <a:solidFill>
              <a:schemeClr val="accent4">
                <a:alpha val="45000"/>
              </a:schemeClr>
            </a:solidFill>
            <a:prstDash val="solid"/>
          </a:ln>
        </p:spPr>
      </p:sp>
      <p:sp>
        <p:nvSpPr>
          <p:cNvPr id="4" name="Cover Hexagon"/>
          <p:cNvSpPr/>
          <p:nvPr/>
        </p:nvSpPr>
        <p:spPr>
          <a:xfrm rot="5400000">
            <a:off x="8841585" y="4605807"/>
            <a:ext cx="3695502" cy="3200400"/>
          </a:xfrm>
          <a:prstGeom prst="hexagon">
            <a:avLst/>
          </a:prstGeom>
          <a:ln w="15875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5" name="Cover Hexagon"/>
          <p:cNvSpPr/>
          <p:nvPr/>
        </p:nvSpPr>
        <p:spPr>
          <a:xfrm rot="5400000">
            <a:off x="6613359" y="3177540"/>
            <a:ext cx="580722" cy="502920"/>
          </a:xfrm>
          <a:prstGeom prst="hexagon">
            <a:avLst/>
          </a:prstGeom>
          <a:solidFill>
            <a:schemeClr val="accent3"/>
          </a:solidFill>
          <a:ln/>
        </p:spPr>
      </p:sp>
      <p:sp>
        <p:nvSpPr>
          <p:cNvPr id="6" name="Cover Hexagon"/>
          <p:cNvSpPr/>
          <p:nvPr/>
        </p:nvSpPr>
        <p:spPr>
          <a:xfrm rot="5400000">
            <a:off x="10849583" y="1728216"/>
            <a:ext cx="337874" cy="292608"/>
          </a:xfrm>
          <a:prstGeom prst="hexagon">
            <a:avLst/>
          </a:prstGeom>
          <a:solidFill>
            <a:schemeClr val="accent3">
              <a:alpha val="70000"/>
            </a:schemeClr>
          </a:solidFill>
          <a:ln/>
        </p:spPr>
      </p:sp>
      <p:sp>
        <p:nvSpPr>
          <p:cNvPr id="7" name="Cover Hexagon"/>
          <p:cNvSpPr/>
          <p:nvPr/>
        </p:nvSpPr>
        <p:spPr>
          <a:xfrm rot="5400000">
            <a:off x="6868728" y="1440180"/>
            <a:ext cx="4276224" cy="3703320"/>
          </a:xfrm>
          <a:prstGeom prst="hexagon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8" name="Cover Hexagon"/>
          <p:cNvSpPr/>
          <p:nvPr/>
        </p:nvSpPr>
        <p:spPr>
          <a:xfrm rot="5400000">
            <a:off x="6755697" y="4800600"/>
            <a:ext cx="844686" cy="731520"/>
          </a:xfrm>
          <a:prstGeom prst="hexagon">
            <a:avLst/>
          </a:prstGeom>
          <a:ln w="19050">
            <a:solidFill>
              <a:schemeClr val="accent3">
                <a:alpha val="65000"/>
              </a:schemeClr>
            </a:solidFill>
            <a:prstDash val="solid"/>
          </a:ln>
        </p:spPr>
      </p:sp>
      <p:sp>
        <p:nvSpPr>
          <p:cNvPr id="9" name="Cover Hexagon"/>
          <p:cNvSpPr/>
          <p:nvPr/>
        </p:nvSpPr>
        <p:spPr>
          <a:xfrm rot="5400000">
            <a:off x="7159089" y="1691640"/>
            <a:ext cx="3695502" cy="3200400"/>
          </a:xfrm>
          <a:prstGeom prst="hexagon">
            <a:avLst/>
          </a:prstGeom>
          <a:solidFill>
            <a:schemeClr val="bg1"/>
          </a:solidFill>
          <a:ln w="38100">
            <a:solidFill>
              <a:schemeClr val="accent3"/>
            </a:solidFill>
            <a:prstDash val="solid"/>
          </a:ln>
        </p:spPr>
      </p:sp>
      <p:pic>
        <p:nvPicPr>
          <p:cNvPr id="10" name="Genesis Logo" descr="Genesi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66" y="2125980"/>
            <a:ext cx="1792148" cy="2331720"/>
          </a:xfrm>
          <a:prstGeom prst="rect">
            <a:avLst/>
          </a:prstGeom>
        </p:spPr>
      </p:pic>
      <p:sp>
        <p:nvSpPr>
          <p:cNvPr id="11" name="Kicker"/>
          <p:cNvSpPr txBox="1"/>
          <p:nvPr/>
        </p:nvSpPr>
        <p:spPr>
          <a:xfrm>
            <a:off x="548640" y="502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3"/>
                </a:solidFill>
              </a:rPr>
              <a:t>PRE-IDEATHON TEMPLATE</a:t>
            </a:r>
            <a:endParaRPr lang="en-US" sz="1200" dirty="0"/>
          </a:p>
        </p:txBody>
      </p:sp>
      <p:sp>
        <p:nvSpPr>
          <p:cNvPr id="12" name="Event Title"/>
          <p:cNvSpPr txBox="1"/>
          <p:nvPr/>
        </p:nvSpPr>
        <p:spPr>
          <a:xfrm>
            <a:off x="548640" y="868680"/>
            <a:ext cx="5669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GENESIS</a:t>
            </a:r>
            <a:endParaRPr lang="en-US" sz="5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400" b="1" kern="0" spc="200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IDEATHON</a:t>
            </a:r>
            <a:endParaRPr lang="en-US" sz="5400" dirty="0"/>
          </a:p>
        </p:txBody>
      </p:sp>
      <p:sp>
        <p:nvSpPr>
          <p:cNvPr id="13" name="Section Chip"/>
          <p:cNvSpPr/>
          <p:nvPr/>
        </p:nvSpPr>
        <p:spPr>
          <a:xfrm>
            <a:off x="548640" y="2606040"/>
            <a:ext cx="2103120" cy="384048"/>
          </a:xfrm>
          <a:prstGeom prst="roundRect">
            <a:avLst>
              <a:gd name="adj" fmla="val 50000"/>
            </a:avLst>
          </a:prstGeom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chemeClr val="bg1"/>
                </a:solidFill>
              </a:rPr>
              <a:t>TEAM &amp; DOMAIN</a:t>
            </a:r>
            <a:endParaRPr lang="en-US" sz="1300" dirty="0"/>
          </a:p>
        </p:txBody>
      </p:sp>
      <p:sp>
        <p:nvSpPr>
          <p:cNvPr id="14" name="Cover Lead"/>
          <p:cNvSpPr txBox="1"/>
          <p:nvPr/>
        </p:nvSpPr>
        <p:spPr>
          <a:xfrm>
            <a:off x="548640" y="3108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Introduce your team and the domain you have chosen</a:t>
            </a:r>
            <a:endParaRPr lang="en-US" sz="1600" dirty="0"/>
          </a:p>
        </p:txBody>
      </p:sp>
      <p:sp>
        <p:nvSpPr>
          <p:cNvPr id="15" name="Cover Fields"/>
          <p:cNvSpPr txBox="1"/>
          <p:nvPr/>
        </p:nvSpPr>
        <p:spPr>
          <a:xfrm>
            <a:off x="491490" y="3520440"/>
            <a:ext cx="6035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</a:rPr>
              <a:t>Team Name – SECRET AVENGERS</a:t>
            </a:r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dirty="0">
                <a:solidFill>
                  <a:schemeClr val="bg1"/>
                </a:solidFill>
              </a:rPr>
              <a:t>Team Members – SREE GUGAN V S - CB.SC.U4CSE26254</a:t>
            </a:r>
          </a:p>
          <a:p>
            <a:pPr>
              <a:spcAft>
                <a:spcPts val="1400"/>
              </a:spcAft>
              <a:buClr>
                <a:schemeClr val="accent3"/>
              </a:buClr>
              <a:buSzPct val="100000"/>
            </a:pPr>
            <a:r>
              <a:rPr lang="en-US" dirty="0">
                <a:solidFill>
                  <a:schemeClr val="bg1"/>
                </a:solidFill>
              </a:rPr>
              <a:t>                                     HARSHIL T - CB.SC.U4CSE26259</a:t>
            </a:r>
          </a:p>
          <a:p>
            <a:pPr>
              <a:spcAft>
                <a:spcPts val="1400"/>
              </a:spcAft>
              <a:buClr>
                <a:schemeClr val="accent3"/>
              </a:buClr>
              <a:buSzPct val="100000"/>
            </a:pPr>
            <a:r>
              <a:rPr lang="en-US" dirty="0">
                <a:solidFill>
                  <a:schemeClr val="bg1"/>
                </a:solidFill>
              </a:rPr>
              <a:t>                                     AKSHAI  - CB.SC.U4CSE26766</a:t>
            </a:r>
          </a:p>
          <a:p>
            <a:pPr>
              <a:spcAft>
                <a:spcPts val="1400"/>
              </a:spcAft>
              <a:buClr>
                <a:schemeClr val="accent3"/>
              </a:buClr>
              <a:buSzPct val="100000"/>
            </a:pPr>
            <a:r>
              <a:rPr lang="en-US" dirty="0">
                <a:solidFill>
                  <a:schemeClr val="bg1"/>
                </a:solidFill>
              </a:rPr>
              <a:t>                                     NITHESH - CB.SC.U4CSE26261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Selected Domain – 1</a:t>
            </a:r>
            <a:endParaRPr lang="en-US" sz="1800" dirty="0"/>
          </a:p>
          <a:p>
            <a:pPr marL="279400" indent="-279400">
              <a:spcAft>
                <a:spcPts val="1400"/>
              </a:spcAft>
              <a:buClr>
                <a:schemeClr val="accent3"/>
              </a:buClr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Problem Statement – AI-POWERED PREDICTIVE &amp; ADAPTIVE ENERGY OPTIMISATION FOR SMART BUILDING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PROBLEM IN OUR WORDS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SECRET AVENGERS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Explain the problem in your domain simply, in your own words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What exactly needs to be solved?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600" dirty="0"/>
              <a:t>We need to solve the problem of </a:t>
            </a:r>
            <a:r>
              <a:rPr lang="en-US" sz="1600" b="1" dirty="0"/>
              <a:t>“using too much energy when we don't need to”</a:t>
            </a:r>
            <a:r>
              <a:rPr lang="en-US" sz="1600" dirty="0"/>
              <a:t> by making the building smart enough to predict demand and automatically reduce energy wastage without affecting students' and staff's comfort.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Why is it important right now?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600" dirty="0"/>
              <a:t>As campuses become more energy-intensive, we need intelligent systems that can predict and adapt energy consumption instead of wasting energy through fixed, inefficient usage.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6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2</a:t>
            </a:fld>
            <a:endParaRPr lang="en-US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69B73875-8E5C-DACC-9360-9B11E961B0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3220474"/>
              </p:ext>
            </p:extLst>
          </p:nvPr>
        </p:nvGraphicFramePr>
        <p:xfrm>
          <a:off x="5673012" y="4226767"/>
          <a:ext cx="6354147" cy="21831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SECRET AVENGERS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Target users, stakeholders, beneficiaries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Primary users / target group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600" dirty="0"/>
              <a:t>College and University campus Administrator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600" dirty="0"/>
              <a:t>Facility/Energy management teams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600" dirty="0"/>
              <a:t>Govt./Pvt Office buildings</a:t>
            </a:r>
            <a:endParaRPr lang="en-US" sz="1600" dirty="0">
              <a:solidFill>
                <a:schemeClr val="tx1"/>
              </a:solidFill>
            </a:endParaRP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Secondary stakeholders</a:t>
            </a:r>
            <a:endParaRPr lang="en-US" dirty="0"/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600" dirty="0"/>
              <a:t>Government and regularity bodies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600" dirty="0">
                <a:solidFill>
                  <a:schemeClr val="tx1"/>
                </a:solidFill>
              </a:rPr>
              <a:t>Electricity and energy providers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Who benefits if the problem is solved?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600" dirty="0"/>
              <a:t>Students and Faculty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600" dirty="0"/>
              <a:t>College management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  <p:pic>
        <p:nvPicPr>
          <p:cNvPr id="26" name="Picture 25" descr="smart_campus_stakehold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2148840"/>
            <a:ext cx="4709160" cy="274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37960" y="4937760"/>
            <a:ext cx="4709160" cy="201168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 algn="ctr"/>
            <a:r>
              <a:rPr sz="800" i="1">
                <a:solidFill>
                  <a:srgbClr val="2D6759"/>
                </a:solidFill>
                <a:latin typeface="Aptos"/>
              </a:rPr>
              <a:t>Source: Original AI-generated illustration (OpenAI, 2026)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&amp; CONTEXT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SECRET AVENGERS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Existing scenario, background and how things work today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Existing scenario and background</a:t>
            </a:r>
          </a:p>
          <a:p>
            <a:r>
              <a:rPr lang="en-US" sz="1400" dirty="0"/>
              <a:t>Most campuses currently manage electricity using </a:t>
            </a:r>
            <a:r>
              <a:rPr lang="en-US" sz="1400" b="1" dirty="0"/>
              <a:t>manual monitoring, fixed schedules, or basic automation</a:t>
            </a:r>
            <a:r>
              <a:rPr lang="en-US" sz="1400" dirty="0"/>
              <a:t>. Lights, fans, air conditioners, laboratory equipment, and other electrical systems are often operated according to predetermined timings rather than actual occupancy or real-time energy demand.</a:t>
            </a:r>
          </a:p>
          <a:p>
            <a:r>
              <a:rPr lang="en-US" sz="1400" dirty="0"/>
              <a:t>This can lead to </a:t>
            </a:r>
            <a:r>
              <a:rPr lang="en-US" sz="1400" b="1" dirty="0"/>
              <a:t>energy wastage</a:t>
            </a:r>
            <a:r>
              <a:rPr lang="en-US" sz="1400" dirty="0"/>
              <a:t>, especially when classrooms, laboratories, or offices are partially occupied or empty.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Relevant data or facts (if available)</a:t>
            </a:r>
          </a:p>
          <a:p>
            <a:pPr lvl="0"/>
            <a:r>
              <a:rPr lang="en-US" sz="1400" dirty="0"/>
              <a:t>Educational institutions operate multiple buildings and electrical systems simultaneously, creating significant and varying energy demand.</a:t>
            </a:r>
          </a:p>
          <a:p>
            <a:pPr lvl="0"/>
            <a:r>
              <a:rPr lang="en-US" sz="1400" dirty="0"/>
              <a:t>Energy consumption changes based on </a:t>
            </a:r>
            <a:r>
              <a:rPr lang="en-US" sz="1400" b="1" dirty="0"/>
              <a:t>occupancy, weather, class schedules, time of day, and equipment usage</a:t>
            </a:r>
            <a:r>
              <a:rPr lang="en-US" sz="1400" dirty="0"/>
              <a:t>.</a:t>
            </a:r>
          </a:p>
          <a:p>
            <a:pPr lvl="0"/>
            <a:r>
              <a:rPr lang="en-US" sz="1400" dirty="0"/>
              <a:t>Fixed schedules cannot always respond to these changing conditions. AI-based prediction can use </a:t>
            </a:r>
            <a:r>
              <a:rPr lang="en-US" sz="1400" b="1" dirty="0"/>
              <a:t>historical consumption and real-time data</a:t>
            </a:r>
            <a:r>
              <a:rPr lang="en-US" sz="1400" dirty="0"/>
              <a:t> to identify demand patterns and support smarter energy management.</a:t>
            </a:r>
          </a:p>
          <a:p>
            <a:pPr lvl="0"/>
            <a:r>
              <a:rPr lang="en-US" sz="1400" dirty="0"/>
              <a:t>Smart meters and IoT sensors can provide the data required for real-time monitoring and optimization.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Current workflow, step by step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400" dirty="0"/>
              <a:t>Electricity is supplied </a:t>
            </a:r>
            <a:r>
              <a:rPr lang="en-US" sz="1400" dirty="0">
                <a:sym typeface="Wingdings" panose="05000000000000000000" pitchFamily="2" charset="2"/>
              </a:rPr>
              <a:t> Different buildings consume the Electricity  Equipment is switched ON/OFF  Energy meter records the consumption  Maintenance team monitors the consumption  Staff Investigate and take corrective actions manually if high consumption is noticed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SECRET AVENGERS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Main difficulties, bottlenecks, root causes and consequences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Main difficulties and bottlenecks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Excessive electricity consumption in classrooms, laboratories, and offices.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Difficulty in predicting energy demand during changing schedules and weather conditions.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Lack of real-time monitoring of electricity consumption across campus buildings.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Limited automation and dependence on manual control of electrical equipment.</a:t>
            </a:r>
          </a:p>
          <a:p>
            <a:pPr lvl="0"/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Root causes behind them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Absence of intelligent systems to monitor room occupancy and energy usage continuously.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Use of fixed operating schedules that do not adapt to actual requirements.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Lack of integration between energy meters, IoT sensors, and control systems.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Insufficient analysis of historical energy consumption data.</a:t>
            </a:r>
          </a:p>
          <a:p>
            <a:pPr lvl="0"/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Consequences of leaving them unsolved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Difficulty in identifying abnormal energy consumption and equipment faults.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Reduced energy efficiency and limited progress towards sustainable, smart campuses.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  <p:pic>
        <p:nvPicPr>
          <p:cNvPr id="26" name="Picture 25" descr="energy_waste_challeng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2057400"/>
            <a:ext cx="2514600" cy="14630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915400" y="3566160"/>
            <a:ext cx="2788920" cy="201168"/>
          </a:xfrm>
          <a:prstGeom prst="rect">
            <a:avLst/>
          </a:prstGeom>
          <a:noFill/>
        </p:spPr>
        <p:txBody>
          <a:bodyPr wrap="none" lIns="18288" tIns="0" rIns="18288" bIns="0">
            <a:spAutoFit/>
          </a:bodyPr>
          <a:lstStyle/>
          <a:p>
            <a:pPr algn="ctr"/>
            <a:r>
              <a:rPr sz="800" i="1">
                <a:solidFill>
                  <a:srgbClr val="2D6759"/>
                </a:solidFill>
                <a:latin typeface="Aptos"/>
              </a:rPr>
              <a:t>Source: Original AI-generated illustration (OpenAI, 2026)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/ APPROACHES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SECRET AVENGERS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already being done, and where it falls short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Existing methods, systems or alternatives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600" dirty="0"/>
              <a:t>Manual monitoring: Staff check electricity meters and switch appliances ON/OFF manually.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600" dirty="0"/>
              <a:t>Fixed scheduling systems: Lights, fans, and air conditioners operate according to predetermined schedules.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Motion sensors and occupancy sensors: Automatically control lighting based on whether people are present. (Currently present in certain areas of the Amrita campus).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Limitations of each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600" dirty="0"/>
              <a:t>Manual monitoring: Time-consuming and unable to respond immediately to energy wastage.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600" dirty="0"/>
              <a:t>Fixed scheduling: Cannot adapt effectively to unexpected changes in classroom occupancy or schedules.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600" dirty="0"/>
              <a:t>Motion sensors: May not account for future occupancy, changing energy demand, or all types of electrical equipment.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gap they leave open (Key Challenges)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Lack of prediction: Energy demand is not always forecast using historical consumption, weather, and occupancy data.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Limited adaptability: Systems may not adjust automatically to changing campus activities and real-time requirements.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INSIGHTS &amp; OPPORTUNITY AREAS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SECRET AVENGERS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Resources required to solve the problem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Hardware Requirements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Laptop or desktop computer for development and testing.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Internet connection for accessing datasets, weather information, and online services.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tx1"/>
              </a:solidFill>
            </a:endParaRP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Software Requirements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Programming language: Python.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AI/ML libraries: Scikit-learn, Pandas, NumPy.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Development environment: VS Code or Jupyter Notebook.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Prediction model: Machine-learning model for forecasting energy demand.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Data storage: MySQL, SQLite, or CSV files.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Other resources (Including Human Resources)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600" dirty="0"/>
              <a:t>Testing resources: Simulated campus buildings, classrooms, occupancy patterns, and energy-demand scenarios.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600" dirty="0"/>
              <a:t>Campus administrator or facility manager: Provides information about energy usage and campus operations.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DIRECTION &amp; EXPECTED OUTCOME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SECRET AVENGERS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Your Expected Outcome?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What your team intends to do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600" dirty="0"/>
              <a:t>Develop a software-based AI system to predict campus electricity demand using historical energy consumption data and relevant factors such as weather, time, and occupancy.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600" dirty="0"/>
              <a:t>Identify potential energy wastage and recommend suitable energy-saving actions.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600" dirty="0"/>
              <a:t>Provide adaptive optimization recommendations based on changing energy requirements.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What you want to improve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Minimize dependence on manual monitoring and fixed operating schedules.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Help campus administrators make informed, data-driven energy-management decisions.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600" dirty="0"/>
              <a:t>Improve energy efficiency while maintaining the comfort of students and staff.</a:t>
            </a:r>
          </a:p>
          <a:p>
            <a:pPr lvl="0"/>
            <a:endParaRPr lang="en-US" sz="1800" dirty="0"/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What successful improvement should you achieve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600" dirty="0"/>
              <a:t>Demonstrate that the AI model can forecast energy demand using historical or sample data.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600" dirty="0"/>
              <a:t>Generate practical recommendations for reducing unnecessary energy consumption.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600" dirty="0"/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1960F3DC-6960-6C9D-6E60-009905B602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0957215"/>
              </p:ext>
            </p:extLst>
          </p:nvPr>
        </p:nvGraphicFramePr>
        <p:xfrm>
          <a:off x="8574833" y="2836506"/>
          <a:ext cx="3396965" cy="26041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</a:t>
            </a:r>
            <a:endParaRPr lang="en-US" sz="2400" dirty="0"/>
          </a:p>
        </p:txBody>
      </p:sp>
      <p:sp>
        <p:nvSpPr>
          <p:cNvPr id="3" name="Team Badge"/>
          <p:cNvSpPr/>
          <p:nvPr/>
        </p:nvSpPr>
        <p:spPr>
          <a:xfrm>
            <a:off x="457200" y="320040"/>
            <a:ext cx="260604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am Icon Hex"/>
          <p:cNvSpPr/>
          <p:nvPr/>
        </p:nvSpPr>
        <p:spPr>
          <a:xfrm>
            <a:off x="603504" y="457200"/>
            <a:ext cx="630936" cy="548640"/>
          </a:xfrm>
          <a:prstGeom prst="hexagon">
            <a:avLst/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5" name="Team Icon" descr="Team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548640"/>
            <a:ext cx="365760" cy="365760"/>
          </a:xfrm>
          <a:prstGeom prst="rect">
            <a:avLst/>
          </a:prstGeom>
        </p:spPr>
      </p:pic>
      <p:sp>
        <p:nvSpPr>
          <p:cNvPr id="6" name="Team Name"/>
          <p:cNvSpPr txBox="1"/>
          <p:nvPr/>
        </p:nvSpPr>
        <p:spPr>
          <a:xfrm>
            <a:off x="1371600" y="384048"/>
            <a:ext cx="1627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300" dirty="0">
                <a:solidFill>
                  <a:schemeClr val="accent5"/>
                </a:solidFill>
              </a:rPr>
              <a:t>TEAM</a:t>
            </a:r>
            <a:endParaRPr lang="en-US" sz="9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SECRET AVENGERS</a:t>
            </a:r>
            <a:endParaRPr lang="en-US" sz="9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Who will handle which part of the execution</a:t>
            </a:r>
            <a:endParaRPr lang="en-US" sz="1800" dirty="0"/>
          </a:p>
        </p:txBody>
      </p:sp>
      <p:graphicFrame>
        <p:nvGraphicFramePr>
          <p:cNvPr id="10" name="Team Contribu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4415" cy="347472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 in Execution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1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will handle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2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will handle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3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will handle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4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will handle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anchor="ctr">
                    <a:lnL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1110</Words>
  <Application>Microsoft Office PowerPoint</Application>
  <PresentationFormat>Widescreen</PresentationFormat>
  <Paragraphs>155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Genesis Ideathon</vt:lpstr>
      <vt:lpstr>PowerPoint Presentation</vt:lpstr>
      <vt:lpstr>DOMAIN PROBLEM IN OUR WORDS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  <vt:lpstr>TEAM CONTRIBUTION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lastModifiedBy>Sree Gugan V S</cp:lastModifiedBy>
  <cp:revision>9</cp:revision>
  <dcterms:created xsi:type="dcterms:W3CDTF">2026-10-07T15:27:40Z</dcterms:created>
  <dcterms:modified xsi:type="dcterms:W3CDTF">2026-10-09T16:10:18Z</dcterms:modified>
</cp:coreProperties>
</file>